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</p:sldIdLst>
  <p:sldSz cx="18288000" cy="10287000"/>
  <p:notesSz cx="6858000" cy="9144000"/>
  <p:embeddedFontLst>
    <p:embeddedFont>
      <p:font typeface="Poppins" pitchFamily="2" charset="77"/>
      <p:regular r:id="rId10"/>
      <p:bold r:id="rId11"/>
      <p:italic r:id="rId12"/>
      <p:boldItalic r:id="rId13"/>
    </p:embeddedFont>
    <p:embeddedFont>
      <p:font typeface="Poppins Bold"/>
      <p:regular r:id="rId14"/>
      <p:bold r:id="rId15"/>
    </p:embeddedFont>
    <p:embeddedFont>
      <p:font typeface="Poppins Light" panose="0000040000000000000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7" autoAdjust="0"/>
  </p:normalViewPr>
  <p:slideViewPr>
    <p:cSldViewPr>
      <p:cViewPr varScale="1">
        <p:scale>
          <a:sx n="68" d="100"/>
          <a:sy n="68" d="100"/>
        </p:scale>
        <p:origin x="808" y="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-160917" y="5918649"/>
            <a:ext cx="12039355" cy="5654495"/>
          </a:xfrm>
          <a:custGeom>
            <a:avLst/>
            <a:gdLst/>
            <a:ahLst/>
            <a:cxnLst/>
            <a:rect l="l" t="t" r="r" b="b"/>
            <a:pathLst>
              <a:path w="12039355" h="5654495">
                <a:moveTo>
                  <a:pt x="0" y="0"/>
                </a:moveTo>
                <a:lnTo>
                  <a:pt x="12039354" y="0"/>
                </a:lnTo>
                <a:lnTo>
                  <a:pt x="12039354" y="5654495"/>
                </a:lnTo>
                <a:lnTo>
                  <a:pt x="0" y="5654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-13441" b="-554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4" name="AutoShape 4"/>
          <p:cNvSpPr/>
          <p:nvPr/>
        </p:nvSpPr>
        <p:spPr>
          <a:xfrm>
            <a:off x="1443457" y="5800930"/>
            <a:ext cx="0" cy="11259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JP"/>
          </a:p>
        </p:txBody>
      </p:sp>
      <p:sp>
        <p:nvSpPr>
          <p:cNvPr id="5" name="Freeform 5"/>
          <p:cNvSpPr/>
          <p:nvPr/>
        </p:nvSpPr>
        <p:spPr>
          <a:xfrm>
            <a:off x="11484324" y="-1238742"/>
            <a:ext cx="4254697" cy="4254697"/>
          </a:xfrm>
          <a:custGeom>
            <a:avLst/>
            <a:gdLst/>
            <a:ahLst/>
            <a:cxnLst/>
            <a:rect l="l" t="t" r="r" b="b"/>
            <a:pathLst>
              <a:path w="4254697" h="4254697">
                <a:moveTo>
                  <a:pt x="0" y="0"/>
                </a:moveTo>
                <a:lnTo>
                  <a:pt x="4254697" y="0"/>
                </a:lnTo>
                <a:lnTo>
                  <a:pt x="4254697" y="4254697"/>
                </a:lnTo>
                <a:lnTo>
                  <a:pt x="0" y="4254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6" name="Freeform 6"/>
          <p:cNvSpPr/>
          <p:nvPr/>
        </p:nvSpPr>
        <p:spPr>
          <a:xfrm>
            <a:off x="1569312" y="8404902"/>
            <a:ext cx="315896" cy="377189"/>
          </a:xfrm>
          <a:custGeom>
            <a:avLst/>
            <a:gdLst/>
            <a:ahLst/>
            <a:cxnLst/>
            <a:rect l="l" t="t" r="r" b="b"/>
            <a:pathLst>
              <a:path w="315896" h="377189">
                <a:moveTo>
                  <a:pt x="0" y="0"/>
                </a:moveTo>
                <a:lnTo>
                  <a:pt x="315896" y="0"/>
                </a:lnTo>
                <a:lnTo>
                  <a:pt x="315896" y="377190"/>
                </a:lnTo>
                <a:lnTo>
                  <a:pt x="0" y="3771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7" name="Freeform 7"/>
          <p:cNvSpPr/>
          <p:nvPr/>
        </p:nvSpPr>
        <p:spPr>
          <a:xfrm>
            <a:off x="8491340" y="1995585"/>
            <a:ext cx="631663" cy="521030"/>
          </a:xfrm>
          <a:custGeom>
            <a:avLst/>
            <a:gdLst/>
            <a:ahLst/>
            <a:cxnLst/>
            <a:rect l="l" t="t" r="r" b="b"/>
            <a:pathLst>
              <a:path w="631663" h="521030">
                <a:moveTo>
                  <a:pt x="0" y="0"/>
                </a:moveTo>
                <a:lnTo>
                  <a:pt x="631663" y="0"/>
                </a:lnTo>
                <a:lnTo>
                  <a:pt x="631663" y="521030"/>
                </a:lnTo>
                <a:lnTo>
                  <a:pt x="0" y="5210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559" b="-60706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8" name="Freeform 8"/>
          <p:cNvSpPr/>
          <p:nvPr/>
        </p:nvSpPr>
        <p:spPr>
          <a:xfrm>
            <a:off x="1458753" y="436738"/>
            <a:ext cx="1108513" cy="1558847"/>
          </a:xfrm>
          <a:custGeom>
            <a:avLst/>
            <a:gdLst/>
            <a:ahLst/>
            <a:cxnLst/>
            <a:rect l="l" t="t" r="r" b="b"/>
            <a:pathLst>
              <a:path w="1108513" h="1558847">
                <a:moveTo>
                  <a:pt x="0" y="0"/>
                </a:moveTo>
                <a:lnTo>
                  <a:pt x="1108514" y="0"/>
                </a:lnTo>
                <a:lnTo>
                  <a:pt x="1108514" y="1558847"/>
                </a:lnTo>
                <a:lnTo>
                  <a:pt x="0" y="15588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9" name="Freeform 9"/>
          <p:cNvSpPr/>
          <p:nvPr/>
        </p:nvSpPr>
        <p:spPr>
          <a:xfrm>
            <a:off x="2958502" y="225941"/>
            <a:ext cx="1830859" cy="1824320"/>
          </a:xfrm>
          <a:custGeom>
            <a:avLst/>
            <a:gdLst/>
            <a:ahLst/>
            <a:cxnLst/>
            <a:rect l="l" t="t" r="r" b="b"/>
            <a:pathLst>
              <a:path w="1830859" h="1824320">
                <a:moveTo>
                  <a:pt x="0" y="0"/>
                </a:moveTo>
                <a:lnTo>
                  <a:pt x="1830859" y="0"/>
                </a:lnTo>
                <a:lnTo>
                  <a:pt x="1830859" y="1824320"/>
                </a:lnTo>
                <a:lnTo>
                  <a:pt x="0" y="18243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10" name="TextBox 10"/>
          <p:cNvSpPr txBox="1"/>
          <p:nvPr/>
        </p:nvSpPr>
        <p:spPr>
          <a:xfrm>
            <a:off x="1348207" y="3101680"/>
            <a:ext cx="13857112" cy="2366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b="1" spc="-2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Soal LKS </a:t>
            </a:r>
          </a:p>
          <a:p>
            <a:pPr algn="l">
              <a:lnSpc>
                <a:spcPts val="8799"/>
              </a:lnSpc>
            </a:pPr>
            <a:r>
              <a:rPr lang="en-US" sz="8799" b="1" spc="-2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3010" y="5881932"/>
            <a:ext cx="7109993" cy="1080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Kota Malang, 4 Februari 2026</a:t>
            </a:r>
          </a:p>
          <a:p>
            <a:pPr algn="l">
              <a:lnSpc>
                <a:spcPts val="4349"/>
              </a:lnSpc>
            </a:pPr>
            <a:r>
              <a:rPr lang="en-US" sz="28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@SMK Telkom Malang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3" name="Group 3"/>
          <p:cNvGrpSpPr/>
          <p:nvPr/>
        </p:nvGrpSpPr>
        <p:grpSpPr>
          <a:xfrm>
            <a:off x="6448330" y="3493713"/>
            <a:ext cx="2505081" cy="2406385"/>
            <a:chOff x="0" y="0"/>
            <a:chExt cx="522143" cy="5015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2143" cy="501571"/>
            </a:xfrm>
            <a:custGeom>
              <a:avLst/>
              <a:gdLst/>
              <a:ahLst/>
              <a:cxnLst/>
              <a:rect l="l" t="t" r="r" b="b"/>
              <a:pathLst>
                <a:path w="522143" h="501571">
                  <a:moveTo>
                    <a:pt x="129800" y="0"/>
                  </a:moveTo>
                  <a:lnTo>
                    <a:pt x="392342" y="0"/>
                  </a:lnTo>
                  <a:cubicBezTo>
                    <a:pt x="464029" y="0"/>
                    <a:pt x="522143" y="58114"/>
                    <a:pt x="522143" y="129800"/>
                  </a:cubicBezTo>
                  <a:lnTo>
                    <a:pt x="522143" y="371771"/>
                  </a:lnTo>
                  <a:cubicBezTo>
                    <a:pt x="522143" y="443458"/>
                    <a:pt x="464029" y="501571"/>
                    <a:pt x="392342" y="501571"/>
                  </a:cubicBezTo>
                  <a:lnTo>
                    <a:pt x="129800" y="501571"/>
                  </a:lnTo>
                  <a:cubicBezTo>
                    <a:pt x="58114" y="501571"/>
                    <a:pt x="0" y="443458"/>
                    <a:pt x="0" y="371771"/>
                  </a:cubicBezTo>
                  <a:lnTo>
                    <a:pt x="0" y="129800"/>
                  </a:lnTo>
                  <a:cubicBezTo>
                    <a:pt x="0" y="58114"/>
                    <a:pt x="58114" y="0"/>
                    <a:pt x="129800" y="0"/>
                  </a:cubicBezTo>
                  <a:close/>
                </a:path>
              </a:pathLst>
            </a:custGeom>
            <a:blipFill>
              <a:blip r:embed="rId3"/>
              <a:stretch>
                <a:fillRect l="-21955" r="-21955"/>
              </a:stretch>
            </a:blipFill>
            <a:ln w="28575" cap="rnd">
              <a:gradFill>
                <a:gsLst>
                  <a:gs pos="0">
                    <a:srgbClr val="DBDEE6">
                      <a:alpha val="26000"/>
                    </a:srgbClr>
                  </a:gs>
                  <a:gs pos="100000">
                    <a:srgbClr val="FAFAFA">
                      <a:alpha val="53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5" name="Freeform 5"/>
          <p:cNvSpPr/>
          <p:nvPr/>
        </p:nvSpPr>
        <p:spPr>
          <a:xfrm rot="-3223677">
            <a:off x="-1023606" y="8108869"/>
            <a:ext cx="2144723" cy="2359604"/>
          </a:xfrm>
          <a:custGeom>
            <a:avLst/>
            <a:gdLst/>
            <a:ahLst/>
            <a:cxnLst/>
            <a:rect l="l" t="t" r="r" b="b"/>
            <a:pathLst>
              <a:path w="2144723" h="2359604">
                <a:moveTo>
                  <a:pt x="0" y="0"/>
                </a:moveTo>
                <a:lnTo>
                  <a:pt x="2144723" y="0"/>
                </a:lnTo>
                <a:lnTo>
                  <a:pt x="2144723" y="2359604"/>
                </a:lnTo>
                <a:lnTo>
                  <a:pt x="0" y="235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0019"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6" name="Group 6"/>
          <p:cNvGrpSpPr/>
          <p:nvPr/>
        </p:nvGrpSpPr>
        <p:grpSpPr>
          <a:xfrm>
            <a:off x="10032323" y="6110017"/>
            <a:ext cx="2505081" cy="2406385"/>
            <a:chOff x="0" y="0"/>
            <a:chExt cx="522143" cy="5015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2143" cy="501571"/>
            </a:xfrm>
            <a:custGeom>
              <a:avLst/>
              <a:gdLst/>
              <a:ahLst/>
              <a:cxnLst/>
              <a:rect l="l" t="t" r="r" b="b"/>
              <a:pathLst>
                <a:path w="522143" h="501571">
                  <a:moveTo>
                    <a:pt x="129800" y="0"/>
                  </a:moveTo>
                  <a:lnTo>
                    <a:pt x="392342" y="0"/>
                  </a:lnTo>
                  <a:cubicBezTo>
                    <a:pt x="464029" y="0"/>
                    <a:pt x="522143" y="58114"/>
                    <a:pt x="522143" y="129800"/>
                  </a:cubicBezTo>
                  <a:lnTo>
                    <a:pt x="522143" y="371771"/>
                  </a:lnTo>
                  <a:cubicBezTo>
                    <a:pt x="522143" y="443458"/>
                    <a:pt x="464029" y="501571"/>
                    <a:pt x="392342" y="501571"/>
                  </a:cubicBezTo>
                  <a:lnTo>
                    <a:pt x="129800" y="501571"/>
                  </a:lnTo>
                  <a:cubicBezTo>
                    <a:pt x="58114" y="501571"/>
                    <a:pt x="0" y="443458"/>
                    <a:pt x="0" y="371771"/>
                  </a:cubicBezTo>
                  <a:lnTo>
                    <a:pt x="0" y="129800"/>
                  </a:lnTo>
                  <a:cubicBezTo>
                    <a:pt x="0" y="58114"/>
                    <a:pt x="58114" y="0"/>
                    <a:pt x="129800" y="0"/>
                  </a:cubicBezTo>
                  <a:close/>
                </a:path>
              </a:pathLst>
            </a:custGeom>
            <a:blipFill>
              <a:blip r:embed="rId6"/>
              <a:stretch>
                <a:fillRect l="-35386" r="-35386"/>
              </a:stretch>
            </a:blipFill>
            <a:ln w="28575" cap="rnd">
              <a:gradFill>
                <a:gsLst>
                  <a:gs pos="0">
                    <a:srgbClr val="DBDEE6">
                      <a:alpha val="26000"/>
                    </a:srgbClr>
                  </a:gs>
                  <a:gs pos="100000">
                    <a:srgbClr val="FAFAFA">
                      <a:alpha val="53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16316" y="3703632"/>
            <a:ext cx="2505081" cy="2406385"/>
            <a:chOff x="0" y="0"/>
            <a:chExt cx="522143" cy="5015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22143" cy="501571"/>
            </a:xfrm>
            <a:custGeom>
              <a:avLst/>
              <a:gdLst/>
              <a:ahLst/>
              <a:cxnLst/>
              <a:rect l="l" t="t" r="r" b="b"/>
              <a:pathLst>
                <a:path w="522143" h="501571">
                  <a:moveTo>
                    <a:pt x="129800" y="0"/>
                  </a:moveTo>
                  <a:lnTo>
                    <a:pt x="392342" y="0"/>
                  </a:lnTo>
                  <a:cubicBezTo>
                    <a:pt x="464029" y="0"/>
                    <a:pt x="522143" y="58114"/>
                    <a:pt x="522143" y="129800"/>
                  </a:cubicBezTo>
                  <a:lnTo>
                    <a:pt x="522143" y="371771"/>
                  </a:lnTo>
                  <a:cubicBezTo>
                    <a:pt x="522143" y="443458"/>
                    <a:pt x="464029" y="501571"/>
                    <a:pt x="392342" y="501571"/>
                  </a:cubicBezTo>
                  <a:lnTo>
                    <a:pt x="129800" y="501571"/>
                  </a:lnTo>
                  <a:cubicBezTo>
                    <a:pt x="58114" y="501571"/>
                    <a:pt x="0" y="443458"/>
                    <a:pt x="0" y="371771"/>
                  </a:cubicBezTo>
                  <a:lnTo>
                    <a:pt x="0" y="129800"/>
                  </a:lnTo>
                  <a:cubicBezTo>
                    <a:pt x="0" y="58114"/>
                    <a:pt x="58114" y="0"/>
                    <a:pt x="129800" y="0"/>
                  </a:cubicBezTo>
                  <a:close/>
                </a:path>
              </a:pathLst>
            </a:custGeom>
            <a:blipFill>
              <a:blip r:embed="rId7"/>
              <a:stretch>
                <a:fillRect l="-59783" r="-59783"/>
              </a:stretch>
            </a:blipFill>
            <a:ln w="28575" cap="rnd">
              <a:gradFill>
                <a:gsLst>
                  <a:gs pos="0">
                    <a:srgbClr val="DBDEE6">
                      <a:alpha val="26000"/>
                    </a:srgbClr>
                  </a:gs>
                  <a:gs pos="100000">
                    <a:srgbClr val="FAFAFA">
                      <a:alpha val="53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JP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35792" y="510499"/>
            <a:ext cx="2505081" cy="2406385"/>
            <a:chOff x="0" y="0"/>
            <a:chExt cx="522143" cy="5015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2143" cy="501571"/>
            </a:xfrm>
            <a:custGeom>
              <a:avLst/>
              <a:gdLst/>
              <a:ahLst/>
              <a:cxnLst/>
              <a:rect l="l" t="t" r="r" b="b"/>
              <a:pathLst>
                <a:path w="522143" h="501571">
                  <a:moveTo>
                    <a:pt x="129800" y="0"/>
                  </a:moveTo>
                  <a:lnTo>
                    <a:pt x="392342" y="0"/>
                  </a:lnTo>
                  <a:cubicBezTo>
                    <a:pt x="464029" y="0"/>
                    <a:pt x="522143" y="58114"/>
                    <a:pt x="522143" y="129800"/>
                  </a:cubicBezTo>
                  <a:lnTo>
                    <a:pt x="522143" y="371771"/>
                  </a:lnTo>
                  <a:cubicBezTo>
                    <a:pt x="522143" y="443458"/>
                    <a:pt x="464029" y="501571"/>
                    <a:pt x="392342" y="501571"/>
                  </a:cubicBezTo>
                  <a:lnTo>
                    <a:pt x="129800" y="501571"/>
                  </a:lnTo>
                  <a:cubicBezTo>
                    <a:pt x="58114" y="501571"/>
                    <a:pt x="0" y="443458"/>
                    <a:pt x="0" y="371771"/>
                  </a:cubicBezTo>
                  <a:lnTo>
                    <a:pt x="0" y="129800"/>
                  </a:lnTo>
                  <a:cubicBezTo>
                    <a:pt x="0" y="58114"/>
                    <a:pt x="58114" y="0"/>
                    <a:pt x="129800" y="0"/>
                  </a:cubicBezTo>
                  <a:close/>
                </a:path>
              </a:pathLst>
            </a:custGeom>
            <a:blipFill>
              <a:blip r:embed="rId8"/>
              <a:stretch>
                <a:fillRect l="-22090" r="-22090"/>
              </a:stretch>
            </a:blipFill>
            <a:ln w="28575" cap="rnd">
              <a:gradFill>
                <a:gsLst>
                  <a:gs pos="0">
                    <a:srgbClr val="DBDEE6">
                      <a:alpha val="26000"/>
                    </a:srgbClr>
                  </a:gs>
                  <a:gs pos="100000">
                    <a:srgbClr val="FAFAFA">
                      <a:alpha val="53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64303" y="3655823"/>
            <a:ext cx="4962590" cy="213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0"/>
              </a:lnSpc>
            </a:pPr>
            <a:r>
              <a:rPr lang="en-US" sz="5430" b="1" spc="-162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Mengapa</a:t>
            </a:r>
            <a:r>
              <a:rPr lang="en-US" sz="5430" b="1" spc="-162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430" b="1" spc="-162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Siswa</a:t>
            </a:r>
            <a:r>
              <a:rPr lang="en-US" sz="5430" b="1" spc="-162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Bisa Stress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9848" y="6323342"/>
            <a:ext cx="3222043" cy="79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Tuntutan Akademik</a:t>
            </a:r>
          </a:p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dan Prestasi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73842" y="8939646"/>
            <a:ext cx="3222043" cy="79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Penggunaan Medsos Berlebihan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57835" y="6533261"/>
            <a:ext cx="3222043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Minim Aktifitas Fisik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77310" y="3340128"/>
            <a:ext cx="3222043" cy="1196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Kurang Tidur dan Manajemen Waktu Buruk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63944" y="9299691"/>
            <a:ext cx="3914905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 masih banyak lagi....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8207" y="2441082"/>
            <a:ext cx="1405871" cy="79098"/>
            <a:chOff x="0" y="0"/>
            <a:chExt cx="337718" cy="190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7718" cy="19001"/>
            </a:xfrm>
            <a:custGeom>
              <a:avLst/>
              <a:gdLst/>
              <a:ahLst/>
              <a:cxnLst/>
              <a:rect l="l" t="t" r="r" b="b"/>
              <a:pathLst>
                <a:path w="337718" h="19001">
                  <a:moveTo>
                    <a:pt x="9500" y="0"/>
                  </a:moveTo>
                  <a:lnTo>
                    <a:pt x="328217" y="0"/>
                  </a:lnTo>
                  <a:cubicBezTo>
                    <a:pt x="330737" y="0"/>
                    <a:pt x="333153" y="1001"/>
                    <a:pt x="334935" y="2783"/>
                  </a:cubicBezTo>
                  <a:cubicBezTo>
                    <a:pt x="336717" y="4564"/>
                    <a:pt x="337718" y="6981"/>
                    <a:pt x="337718" y="9500"/>
                  </a:cubicBezTo>
                  <a:lnTo>
                    <a:pt x="337718" y="9500"/>
                  </a:lnTo>
                  <a:cubicBezTo>
                    <a:pt x="337718" y="14747"/>
                    <a:pt x="333464" y="19001"/>
                    <a:pt x="328217" y="19001"/>
                  </a:cubicBezTo>
                  <a:lnTo>
                    <a:pt x="9500" y="19001"/>
                  </a:lnTo>
                  <a:cubicBezTo>
                    <a:pt x="4254" y="19001"/>
                    <a:pt x="0" y="14747"/>
                    <a:pt x="0" y="9500"/>
                  </a:cubicBezTo>
                  <a:lnTo>
                    <a:pt x="0" y="9500"/>
                  </a:lnTo>
                  <a:cubicBezTo>
                    <a:pt x="0" y="4254"/>
                    <a:pt x="4254" y="0"/>
                    <a:pt x="95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JP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337718" cy="104726"/>
            </a:xfrm>
            <a:prstGeom prst="rect">
              <a:avLst/>
            </a:prstGeom>
          </p:spPr>
          <p:txBody>
            <a:bodyPr lIns="55697" tIns="55697" rIns="55697" bIns="55697" rtlCol="0" anchor="ctr"/>
            <a:lstStyle/>
            <a:p>
              <a:pPr algn="ctr">
                <a:lnSpc>
                  <a:spcPts val="33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442338" y="-1625367"/>
            <a:ext cx="4066449" cy="4066449"/>
          </a:xfrm>
          <a:custGeom>
            <a:avLst/>
            <a:gdLst/>
            <a:ahLst/>
            <a:cxnLst/>
            <a:rect l="l" t="t" r="r" b="b"/>
            <a:pathLst>
              <a:path w="4066449" h="4066449">
                <a:moveTo>
                  <a:pt x="0" y="0"/>
                </a:moveTo>
                <a:lnTo>
                  <a:pt x="4066448" y="0"/>
                </a:lnTo>
                <a:lnTo>
                  <a:pt x="4066448" y="4066449"/>
                </a:lnTo>
                <a:lnTo>
                  <a:pt x="0" y="4066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6" name="Freeform 6"/>
          <p:cNvSpPr/>
          <p:nvPr/>
        </p:nvSpPr>
        <p:spPr>
          <a:xfrm>
            <a:off x="5507037" y="6322060"/>
            <a:ext cx="8112024" cy="4155827"/>
          </a:xfrm>
          <a:custGeom>
            <a:avLst/>
            <a:gdLst/>
            <a:ahLst/>
            <a:cxnLst/>
            <a:rect l="l" t="t" r="r" b="b"/>
            <a:pathLst>
              <a:path w="8112024" h="4155827">
                <a:moveTo>
                  <a:pt x="0" y="0"/>
                </a:moveTo>
                <a:lnTo>
                  <a:pt x="8112025" y="0"/>
                </a:lnTo>
                <a:lnTo>
                  <a:pt x="8112025" y="4155827"/>
                </a:lnTo>
                <a:lnTo>
                  <a:pt x="0" y="4155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 b="-49813"/>
            </a:stretch>
          </a:blipFill>
        </p:spPr>
        <p:txBody>
          <a:bodyPr/>
          <a:lstStyle/>
          <a:p>
            <a:endParaRPr lang="en-JP"/>
          </a:p>
        </p:txBody>
      </p:sp>
      <p:grpSp>
        <p:nvGrpSpPr>
          <p:cNvPr id="7" name="Group 7"/>
          <p:cNvGrpSpPr/>
          <p:nvPr/>
        </p:nvGrpSpPr>
        <p:grpSpPr>
          <a:xfrm>
            <a:off x="10762561" y="2520180"/>
            <a:ext cx="5713001" cy="5629667"/>
            <a:chOff x="0" y="0"/>
            <a:chExt cx="1027785" cy="10127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27785" cy="1012793"/>
            </a:xfrm>
            <a:custGeom>
              <a:avLst/>
              <a:gdLst/>
              <a:ahLst/>
              <a:cxnLst/>
              <a:rect l="l" t="t" r="r" b="b"/>
              <a:pathLst>
                <a:path w="1027785" h="1012793">
                  <a:moveTo>
                    <a:pt x="56916" y="0"/>
                  </a:moveTo>
                  <a:lnTo>
                    <a:pt x="970869" y="0"/>
                  </a:lnTo>
                  <a:cubicBezTo>
                    <a:pt x="985964" y="0"/>
                    <a:pt x="1000440" y="5996"/>
                    <a:pt x="1011114" y="16670"/>
                  </a:cubicBezTo>
                  <a:cubicBezTo>
                    <a:pt x="1021788" y="27344"/>
                    <a:pt x="1027785" y="41821"/>
                    <a:pt x="1027785" y="56916"/>
                  </a:cubicBezTo>
                  <a:lnTo>
                    <a:pt x="1027785" y="955877"/>
                  </a:lnTo>
                  <a:cubicBezTo>
                    <a:pt x="1027785" y="970972"/>
                    <a:pt x="1021788" y="985448"/>
                    <a:pt x="1011114" y="996122"/>
                  </a:cubicBezTo>
                  <a:cubicBezTo>
                    <a:pt x="1000440" y="1006796"/>
                    <a:pt x="985964" y="1012793"/>
                    <a:pt x="970869" y="1012793"/>
                  </a:cubicBezTo>
                  <a:lnTo>
                    <a:pt x="56916" y="1012793"/>
                  </a:lnTo>
                  <a:cubicBezTo>
                    <a:pt x="41821" y="1012793"/>
                    <a:pt x="27344" y="1006796"/>
                    <a:pt x="16670" y="996122"/>
                  </a:cubicBezTo>
                  <a:cubicBezTo>
                    <a:pt x="5996" y="985448"/>
                    <a:pt x="0" y="970972"/>
                    <a:pt x="0" y="955877"/>
                  </a:cubicBezTo>
                  <a:lnTo>
                    <a:pt x="0" y="56916"/>
                  </a:lnTo>
                  <a:cubicBezTo>
                    <a:pt x="0" y="41821"/>
                    <a:pt x="5996" y="27344"/>
                    <a:pt x="16670" y="16670"/>
                  </a:cubicBezTo>
                  <a:cubicBezTo>
                    <a:pt x="27344" y="5996"/>
                    <a:pt x="41821" y="0"/>
                    <a:pt x="56916" y="0"/>
                  </a:cubicBezTo>
                  <a:close/>
                </a:path>
              </a:pathLst>
            </a:custGeom>
            <a:blipFill>
              <a:blip r:embed="rId5"/>
              <a:stretch>
                <a:fillRect t="-740" b="-740"/>
              </a:stretch>
            </a:blipFill>
            <a:ln w="76200" cap="rnd">
              <a:gradFill>
                <a:gsLst>
                  <a:gs pos="0">
                    <a:srgbClr val="DBDEE6">
                      <a:alpha val="26000"/>
                    </a:srgbClr>
                  </a:gs>
                  <a:gs pos="100000">
                    <a:srgbClr val="FAFAFA">
                      <a:alpha val="53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9" name="Freeform 9"/>
          <p:cNvSpPr/>
          <p:nvPr/>
        </p:nvSpPr>
        <p:spPr>
          <a:xfrm>
            <a:off x="17111719" y="8780326"/>
            <a:ext cx="918322" cy="1377341"/>
          </a:xfrm>
          <a:custGeom>
            <a:avLst/>
            <a:gdLst/>
            <a:ahLst/>
            <a:cxnLst/>
            <a:rect l="l" t="t" r="r" b="b"/>
            <a:pathLst>
              <a:path w="918322" h="1377341">
                <a:moveTo>
                  <a:pt x="0" y="0"/>
                </a:moveTo>
                <a:lnTo>
                  <a:pt x="918322" y="0"/>
                </a:lnTo>
                <a:lnTo>
                  <a:pt x="918322" y="1377341"/>
                </a:lnTo>
                <a:lnTo>
                  <a:pt x="0" y="13773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9984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10" name="TextBox 10"/>
          <p:cNvSpPr txBox="1"/>
          <p:nvPr/>
        </p:nvSpPr>
        <p:spPr>
          <a:xfrm>
            <a:off x="1348207" y="1095375"/>
            <a:ext cx="6771324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About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8207" y="3302032"/>
            <a:ext cx="7795793" cy="463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Kesehatan mental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mahasiswa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dipengaruhi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oleh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berbagai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aspek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gaya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hidup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dan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aktivitas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akademik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. Dataset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ini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menggambarkan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hasil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survei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terhadap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10.000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mahasiswa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yang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mencakup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kebiasaan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sehari-hari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,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prestasi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belajar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, dan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kesejahteraan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mental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sebagai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bahan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analisis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n-US" sz="2700" dirty="0" err="1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berbasis</a:t>
            </a:r>
            <a:r>
              <a:rPr lang="en-US" sz="2700" dirty="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 data.</a:t>
            </a:r>
          </a:p>
          <a:p>
            <a:pPr algn="just">
              <a:lnSpc>
                <a:spcPts val="4050"/>
              </a:lnSpc>
            </a:pPr>
            <a:endParaRPr lang="en-US" sz="2700" dirty="0">
              <a:solidFill>
                <a:srgbClr val="54545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6153" y="1885053"/>
            <a:ext cx="1405871" cy="79098"/>
            <a:chOff x="0" y="0"/>
            <a:chExt cx="337718" cy="190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7718" cy="19001"/>
            </a:xfrm>
            <a:custGeom>
              <a:avLst/>
              <a:gdLst/>
              <a:ahLst/>
              <a:cxnLst/>
              <a:rect l="l" t="t" r="r" b="b"/>
              <a:pathLst>
                <a:path w="337718" h="19001">
                  <a:moveTo>
                    <a:pt x="9500" y="0"/>
                  </a:moveTo>
                  <a:lnTo>
                    <a:pt x="328217" y="0"/>
                  </a:lnTo>
                  <a:cubicBezTo>
                    <a:pt x="330737" y="0"/>
                    <a:pt x="333153" y="1001"/>
                    <a:pt x="334935" y="2783"/>
                  </a:cubicBezTo>
                  <a:cubicBezTo>
                    <a:pt x="336717" y="4564"/>
                    <a:pt x="337718" y="6981"/>
                    <a:pt x="337718" y="9500"/>
                  </a:cubicBezTo>
                  <a:lnTo>
                    <a:pt x="337718" y="9500"/>
                  </a:lnTo>
                  <a:cubicBezTo>
                    <a:pt x="337718" y="14747"/>
                    <a:pt x="333464" y="19001"/>
                    <a:pt x="328217" y="19001"/>
                  </a:cubicBezTo>
                  <a:lnTo>
                    <a:pt x="9500" y="19001"/>
                  </a:lnTo>
                  <a:cubicBezTo>
                    <a:pt x="4254" y="19001"/>
                    <a:pt x="0" y="14747"/>
                    <a:pt x="0" y="9500"/>
                  </a:cubicBezTo>
                  <a:lnTo>
                    <a:pt x="0" y="9500"/>
                  </a:lnTo>
                  <a:cubicBezTo>
                    <a:pt x="0" y="4254"/>
                    <a:pt x="4254" y="0"/>
                    <a:pt x="95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JP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337718" cy="104726"/>
            </a:xfrm>
            <a:prstGeom prst="rect">
              <a:avLst/>
            </a:prstGeom>
          </p:spPr>
          <p:txBody>
            <a:bodyPr lIns="55697" tIns="55697" rIns="55697" bIns="55697" rtlCol="0" anchor="ctr"/>
            <a:lstStyle/>
            <a:p>
              <a:pPr algn="ctr">
                <a:lnSpc>
                  <a:spcPts val="33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07037" y="6322060"/>
            <a:ext cx="8112024" cy="4155827"/>
          </a:xfrm>
          <a:custGeom>
            <a:avLst/>
            <a:gdLst/>
            <a:ahLst/>
            <a:cxnLst/>
            <a:rect l="l" t="t" r="r" b="b"/>
            <a:pathLst>
              <a:path w="8112024" h="4155827">
                <a:moveTo>
                  <a:pt x="0" y="0"/>
                </a:moveTo>
                <a:lnTo>
                  <a:pt x="8112025" y="0"/>
                </a:lnTo>
                <a:lnTo>
                  <a:pt x="8112025" y="4155827"/>
                </a:lnTo>
                <a:lnTo>
                  <a:pt x="0" y="4155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2000"/>
            </a:blip>
            <a:stretch>
              <a:fillRect b="-49813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6" name="Freeform 6"/>
          <p:cNvSpPr/>
          <p:nvPr/>
        </p:nvSpPr>
        <p:spPr>
          <a:xfrm>
            <a:off x="17111719" y="8780326"/>
            <a:ext cx="918322" cy="1377341"/>
          </a:xfrm>
          <a:custGeom>
            <a:avLst/>
            <a:gdLst/>
            <a:ahLst/>
            <a:cxnLst/>
            <a:rect l="l" t="t" r="r" b="b"/>
            <a:pathLst>
              <a:path w="918322" h="1377341">
                <a:moveTo>
                  <a:pt x="0" y="0"/>
                </a:moveTo>
                <a:lnTo>
                  <a:pt x="918322" y="0"/>
                </a:lnTo>
                <a:lnTo>
                  <a:pt x="918322" y="1377341"/>
                </a:lnTo>
                <a:lnTo>
                  <a:pt x="0" y="13773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9984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8" name="TextBox 8"/>
          <p:cNvSpPr txBox="1"/>
          <p:nvPr/>
        </p:nvSpPr>
        <p:spPr>
          <a:xfrm>
            <a:off x="1348207" y="546596"/>
            <a:ext cx="6771324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Tipe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8207" y="2609170"/>
            <a:ext cx="6608029" cy="360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27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Dataset ini berisi informasi akademik, dan gaya hidup mahasiswa, yang digunakan untuk menganalisis hubungan antara pola hidup dan kondisi kesehatan mental yang berpengaruh terhadap hasil akademik siswa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30E92ED-7A60-794B-AF42-02260070F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0896" y="2747278"/>
            <a:ext cx="34674422" cy="58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B98ABA5-88E1-B14D-A0B7-CA8BCC10CA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1676"/>
          <a:stretch>
            <a:fillRect/>
          </a:stretch>
        </p:blipFill>
        <p:spPr>
          <a:xfrm>
            <a:off x="8687105" y="876300"/>
            <a:ext cx="7810500" cy="8233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14373607" y="-248241"/>
            <a:ext cx="4609254" cy="3117275"/>
          </a:xfrm>
          <a:custGeom>
            <a:avLst/>
            <a:gdLst/>
            <a:ahLst/>
            <a:cxnLst/>
            <a:rect l="l" t="t" r="r" b="b"/>
            <a:pathLst>
              <a:path w="4609254" h="3117275">
                <a:moveTo>
                  <a:pt x="0" y="0"/>
                </a:moveTo>
                <a:lnTo>
                  <a:pt x="4609254" y="0"/>
                </a:lnTo>
                <a:lnTo>
                  <a:pt x="4609254" y="3117274"/>
                </a:lnTo>
                <a:lnTo>
                  <a:pt x="0" y="311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786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4" name="Freeform 4"/>
          <p:cNvSpPr/>
          <p:nvPr/>
        </p:nvSpPr>
        <p:spPr>
          <a:xfrm>
            <a:off x="4665221" y="7135986"/>
            <a:ext cx="7087115" cy="5324195"/>
          </a:xfrm>
          <a:custGeom>
            <a:avLst/>
            <a:gdLst/>
            <a:ahLst/>
            <a:cxnLst/>
            <a:rect l="l" t="t" r="r" b="b"/>
            <a:pathLst>
              <a:path w="7087115" h="5324195">
                <a:moveTo>
                  <a:pt x="0" y="0"/>
                </a:moveTo>
                <a:lnTo>
                  <a:pt x="7087115" y="0"/>
                </a:lnTo>
                <a:lnTo>
                  <a:pt x="7087115" y="5324196"/>
                </a:lnTo>
                <a:lnTo>
                  <a:pt x="0" y="5324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grpSp>
        <p:nvGrpSpPr>
          <p:cNvPr id="5" name="Group 5"/>
          <p:cNvGrpSpPr/>
          <p:nvPr/>
        </p:nvGrpSpPr>
        <p:grpSpPr>
          <a:xfrm>
            <a:off x="1348207" y="2339443"/>
            <a:ext cx="6634028" cy="4069771"/>
            <a:chOff x="0" y="0"/>
            <a:chExt cx="1027785" cy="6305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7785" cy="630514"/>
            </a:xfrm>
            <a:custGeom>
              <a:avLst/>
              <a:gdLst/>
              <a:ahLst/>
              <a:cxnLst/>
              <a:rect l="l" t="t" r="r" b="b"/>
              <a:pathLst>
                <a:path w="1027785" h="630514">
                  <a:moveTo>
                    <a:pt x="49014" y="0"/>
                  </a:moveTo>
                  <a:lnTo>
                    <a:pt x="978770" y="0"/>
                  </a:lnTo>
                  <a:cubicBezTo>
                    <a:pt x="1005840" y="0"/>
                    <a:pt x="1027785" y="21944"/>
                    <a:pt x="1027785" y="49014"/>
                  </a:cubicBezTo>
                  <a:lnTo>
                    <a:pt x="1027785" y="581500"/>
                  </a:lnTo>
                  <a:cubicBezTo>
                    <a:pt x="1027785" y="608570"/>
                    <a:pt x="1005840" y="630514"/>
                    <a:pt x="978770" y="630514"/>
                  </a:cubicBezTo>
                  <a:lnTo>
                    <a:pt x="49014" y="630514"/>
                  </a:lnTo>
                  <a:cubicBezTo>
                    <a:pt x="21944" y="630514"/>
                    <a:pt x="0" y="608570"/>
                    <a:pt x="0" y="581500"/>
                  </a:cubicBezTo>
                  <a:lnTo>
                    <a:pt x="0" y="49014"/>
                  </a:lnTo>
                  <a:cubicBezTo>
                    <a:pt x="0" y="21944"/>
                    <a:pt x="21944" y="0"/>
                    <a:pt x="49014" y="0"/>
                  </a:cubicBezTo>
                  <a:close/>
                </a:path>
              </a:pathLst>
            </a:custGeom>
            <a:blipFill>
              <a:blip r:embed="rId6"/>
              <a:stretch>
                <a:fillRect t="-939" b="-939"/>
              </a:stretch>
            </a:blipFill>
            <a:ln w="28575" cap="rnd">
              <a:gradFill>
                <a:gsLst>
                  <a:gs pos="0">
                    <a:srgbClr val="DBDEE6">
                      <a:alpha val="26000"/>
                    </a:srgbClr>
                  </a:gs>
                  <a:gs pos="100000">
                    <a:srgbClr val="FAFAFA">
                      <a:alpha val="53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8207" y="6840711"/>
            <a:ext cx="6860572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Hari ini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06790" y="2562429"/>
            <a:ext cx="87442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spc="-144">
                <a:solidFill>
                  <a:srgbClr val="2C6E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6510" y="2429079"/>
            <a:ext cx="6899020" cy="5947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Tugas Anda hari ini adalah mengolah dataset Student Depression &amp; Lifestyle untuk menganalisis hubungan antara faktor gaya hidup dan kondisi kesehatan mental mahasiswa menggunakan algoritma Linear Regression. 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545454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Peserta diminta melakukan tahapan data preparation, exploratory data analysis (EDA), pemodelan, evaluasi hasil prediksi, serta menyajikan hasil dalam bentuk visualisasi dan aplikasi sederhana.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54545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8455330" y="-190500"/>
            <a:ext cx="1377341" cy="1377341"/>
          </a:xfrm>
          <a:custGeom>
            <a:avLst/>
            <a:gdLst/>
            <a:ahLst/>
            <a:cxnLst/>
            <a:rect l="l" t="t" r="r" b="b"/>
            <a:pathLst>
              <a:path w="1377341" h="1377341">
                <a:moveTo>
                  <a:pt x="0" y="0"/>
                </a:moveTo>
                <a:lnTo>
                  <a:pt x="1377340" y="0"/>
                </a:lnTo>
                <a:lnTo>
                  <a:pt x="1377340" y="1377341"/>
                </a:lnTo>
                <a:lnTo>
                  <a:pt x="0" y="13773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12" name="TextBox 12"/>
          <p:cNvSpPr txBox="1"/>
          <p:nvPr/>
        </p:nvSpPr>
        <p:spPr>
          <a:xfrm>
            <a:off x="8706790" y="5715794"/>
            <a:ext cx="87442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1" spc="-144">
                <a:solidFill>
                  <a:srgbClr val="2C6E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15334471" y="-395921"/>
            <a:ext cx="3587362" cy="2393302"/>
          </a:xfrm>
          <a:custGeom>
            <a:avLst/>
            <a:gdLst/>
            <a:ahLst/>
            <a:cxnLst/>
            <a:rect l="l" t="t" r="r" b="b"/>
            <a:pathLst>
              <a:path w="3587362" h="2393302">
                <a:moveTo>
                  <a:pt x="0" y="0"/>
                </a:moveTo>
                <a:lnTo>
                  <a:pt x="3587363" y="0"/>
                </a:lnTo>
                <a:lnTo>
                  <a:pt x="3587363" y="2393302"/>
                </a:lnTo>
                <a:lnTo>
                  <a:pt x="0" y="2393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9891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4" name="Freeform 4"/>
          <p:cNvSpPr/>
          <p:nvPr/>
        </p:nvSpPr>
        <p:spPr>
          <a:xfrm>
            <a:off x="2320423" y="3046441"/>
            <a:ext cx="13647153" cy="6687105"/>
          </a:xfrm>
          <a:custGeom>
            <a:avLst/>
            <a:gdLst/>
            <a:ahLst/>
            <a:cxnLst/>
            <a:rect l="l" t="t" r="r" b="b"/>
            <a:pathLst>
              <a:path w="13647153" h="6687105">
                <a:moveTo>
                  <a:pt x="0" y="0"/>
                </a:moveTo>
                <a:lnTo>
                  <a:pt x="13647154" y="0"/>
                </a:lnTo>
                <a:lnTo>
                  <a:pt x="13647154" y="6687105"/>
                </a:lnTo>
                <a:lnTo>
                  <a:pt x="0" y="6687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5" name="TextBox 5"/>
          <p:cNvSpPr txBox="1"/>
          <p:nvPr/>
        </p:nvSpPr>
        <p:spPr>
          <a:xfrm>
            <a:off x="4906653" y="735606"/>
            <a:ext cx="8712246" cy="1945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1" spc="-2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Jadwal Bidang Lomba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EA86A-B449-968C-B048-8D8FFB3A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A2C4D4-37E0-65D8-5C60-4ACE07192EE3}"/>
              </a:ext>
            </a:extLst>
          </p:cNvPr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JP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9E072C8-0FFB-9133-683E-D131AA3ECFE6}"/>
              </a:ext>
            </a:extLst>
          </p:cNvPr>
          <p:cNvSpPr/>
          <p:nvPr/>
        </p:nvSpPr>
        <p:spPr>
          <a:xfrm>
            <a:off x="15334471" y="-395921"/>
            <a:ext cx="3587362" cy="2393302"/>
          </a:xfrm>
          <a:custGeom>
            <a:avLst/>
            <a:gdLst/>
            <a:ahLst/>
            <a:cxnLst/>
            <a:rect l="l" t="t" r="r" b="b"/>
            <a:pathLst>
              <a:path w="3587362" h="2393302">
                <a:moveTo>
                  <a:pt x="0" y="0"/>
                </a:moveTo>
                <a:lnTo>
                  <a:pt x="3587363" y="0"/>
                </a:lnTo>
                <a:lnTo>
                  <a:pt x="3587363" y="2393302"/>
                </a:lnTo>
                <a:lnTo>
                  <a:pt x="0" y="2393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9891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C2B07DA-7690-F10D-B0B7-10E231D685D5}"/>
              </a:ext>
            </a:extLst>
          </p:cNvPr>
          <p:cNvSpPr txBox="1"/>
          <p:nvPr/>
        </p:nvSpPr>
        <p:spPr>
          <a:xfrm>
            <a:off x="4906653" y="735606"/>
            <a:ext cx="8712246" cy="1892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1" spc="-215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 </a:t>
            </a:r>
            <a:r>
              <a:rPr lang="en-US" sz="7200" b="1" spc="-215" dirty="0" err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Bidang</a:t>
            </a:r>
            <a:r>
              <a:rPr lang="en-US" sz="7200" b="1" spc="-215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Lomba</a:t>
            </a:r>
          </a:p>
        </p:txBody>
      </p:sp>
      <p:pic>
        <p:nvPicPr>
          <p:cNvPr id="7" name="Picture 6" descr="A blue and green box with black text&#10;&#10;AI-generated content may be incorrect.">
            <a:extLst>
              <a:ext uri="{FF2B5EF4-FFF2-40B4-BE49-F238E27FC236}">
                <a16:creationId xmlns:a16="http://schemas.microsoft.com/office/drawing/2014/main" id="{40026F10-C06A-C814-D06E-EA9FD2727D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370" y="3818090"/>
            <a:ext cx="12612812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9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JP"/>
          </a:p>
        </p:txBody>
      </p:sp>
      <p:sp>
        <p:nvSpPr>
          <p:cNvPr id="3" name="Freeform 3"/>
          <p:cNvSpPr/>
          <p:nvPr/>
        </p:nvSpPr>
        <p:spPr>
          <a:xfrm>
            <a:off x="9144000" y="-663333"/>
            <a:ext cx="4662047" cy="4662047"/>
          </a:xfrm>
          <a:custGeom>
            <a:avLst/>
            <a:gdLst/>
            <a:ahLst/>
            <a:cxnLst/>
            <a:rect l="l" t="t" r="r" b="b"/>
            <a:pathLst>
              <a:path w="4662047" h="4662047">
                <a:moveTo>
                  <a:pt x="0" y="0"/>
                </a:moveTo>
                <a:lnTo>
                  <a:pt x="4662047" y="0"/>
                </a:lnTo>
                <a:lnTo>
                  <a:pt x="4662047" y="4662047"/>
                </a:lnTo>
                <a:lnTo>
                  <a:pt x="0" y="46620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JP"/>
          </a:p>
        </p:txBody>
      </p:sp>
      <p:sp>
        <p:nvSpPr>
          <p:cNvPr id="4" name="TextBox 4"/>
          <p:cNvSpPr txBox="1"/>
          <p:nvPr/>
        </p:nvSpPr>
        <p:spPr>
          <a:xfrm>
            <a:off x="3814202" y="2389022"/>
            <a:ext cx="11311803" cy="125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 b="1" spc="-2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Selamat Bertanding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87503" y="4201477"/>
            <a:ext cx="13112994" cy="209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799">
                <a:solidFill>
                  <a:srgbClr val="545454"/>
                </a:solidFill>
                <a:latin typeface="Poppins Light"/>
                <a:ea typeface="Poppins Light"/>
                <a:cs typeface="Poppins Light"/>
                <a:sym typeface="Poppins Light"/>
              </a:rPr>
              <a:t>Kerjakan setiap modul secara sistematis sesuai waktu yang diberikan. Penilaian tidak hanya didasarkan pada hasil akhir, tetapi juga pada proses dan pemahaman peserta.</a:t>
            </a:r>
          </a:p>
          <a:p>
            <a:pPr algn="ctr">
              <a:lnSpc>
                <a:spcPts val="4199"/>
              </a:lnSpc>
            </a:pPr>
            <a:endParaRPr lang="en-US" sz="2799">
              <a:solidFill>
                <a:srgbClr val="54545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206</Words>
  <Application>Microsoft Macintosh PowerPoint</Application>
  <PresentationFormat>Custom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Poppins Bold</vt:lpstr>
      <vt:lpstr>Poppins</vt:lpstr>
      <vt:lpstr>Arial</vt:lpstr>
      <vt:lpstr>Calibri</vt:lpstr>
      <vt:lpstr>Poppins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LKS SMK TELKOM</dc:title>
  <cp:lastModifiedBy>Jevri Tri Ardiansah</cp:lastModifiedBy>
  <cp:revision>3</cp:revision>
  <dcterms:created xsi:type="dcterms:W3CDTF">2006-08-16T00:00:00Z</dcterms:created>
  <dcterms:modified xsi:type="dcterms:W3CDTF">2026-02-04T00:41:21Z</dcterms:modified>
  <dc:identifier>DAHART0CT4o</dc:identifier>
</cp:coreProperties>
</file>